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317"/>
  </p:normalViewPr>
  <p:slideViewPr>
    <p:cSldViewPr snapToGrid="0">
      <p:cViewPr varScale="1">
        <p:scale>
          <a:sx n="128" d="100"/>
          <a:sy n="128" d="100"/>
        </p:scale>
        <p:origin x="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066A-6B23-1C01-DFE8-D4D2B79238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in Healthcare: Skin Cancer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BF95B-B5BD-F87A-FAFA-0C2F2A043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275" y="4050836"/>
            <a:ext cx="8938959" cy="219094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Applications, Techniques, and Future Directions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Nidhi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Lovanshi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901436D1-C8CF-2CD0-A17B-37293A52CC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79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285"/>
    </mc:Choice>
    <mc:Fallback>
      <p:transition spd="slow" advTm="192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119A6-F6DC-20A9-3DC9-B285E083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7CF00-DD55-3F05-4607-545444E26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cancer cases are rising worldwide.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diagnosis greatly improves survival rates.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can be slow and prone to errors.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provides fast, accurate image analysis for detection.</a:t>
            </a:r>
          </a:p>
          <a:p>
            <a:r>
              <a:rPr lang="en-US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can achieve &gt;90% accuracy in melanoma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in 5 Americans develops skin cancer by age 70 (Skin Cancer Foundation)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7" name="Audio 6">
            <a:extLst>
              <a:ext uri="{FF2B5EF4-FFF2-40B4-BE49-F238E27FC236}">
                <a16:creationId xmlns:a16="http://schemas.microsoft.com/office/drawing/2014/main" id="{75937B22-8112-5F85-BF4E-48A0BF17D5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69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069"/>
    </mc:Choice>
    <mc:Fallback>
      <p:transition spd="slow" advTm="580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55C6-B753-5974-20D1-5FAAE8E4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CNNs Revolutionized Dermatology</a:t>
            </a:r>
            <a:b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7B8E0-6CCA-0A32-0F11-AA32514C1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 Timeline: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LeNet-5 (1998): 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medical imaging CNNs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AlexNet</a:t>
            </a:r>
            <a:r>
              <a:rPr lang="en-US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(2012):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Dropout – solved overfitting.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VGGNet</a:t>
            </a:r>
            <a:r>
              <a:rPr lang="en-US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(2014):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3×3 filters capture fine image details.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(2015): 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Skip connections for deeper networks</a:t>
            </a:r>
          </a:p>
          <a:p>
            <a:endParaRPr lang="en-US" dirty="0"/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573BC69F-F731-C291-750D-A9860B3EF5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95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536"/>
    </mc:Choice>
    <mc:Fallback>
      <p:transition spd="slow" advTm="815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6943-6818-73EC-544A-5A3DCE078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Techniques in Dermatology: Transfer Learning &amp; GANs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0E5DB-00C4-BFE8-7F22-3893B4E1C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 pre-trained models (e.g., VGG16, ResNet50, MobileNetV2) for skin lesion classification.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last layers helps adapt to specific tasks like melanoma detection.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GANs (Generative Adversarial Networks)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synthetic skin lesion images to combat data scarcity.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models: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CycleGAN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Pix2Pix.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model performance by increasing diversity and robustness.</a:t>
            </a:r>
          </a:p>
          <a:p>
            <a:endParaRPr lang="en-US" dirty="0"/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B86CA430-091C-A75A-C0FE-C4EBE9DD00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879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922"/>
    </mc:Choice>
    <mc:Fallback>
      <p:transition spd="slow" advTm="669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ED38-6597-49FF-C088-D5AF9F349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 - Model Development &amp; Training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4F547-A571-B71B-73A6-083A7924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1601"/>
            <a:ext cx="8596668" cy="4669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HAM10000: 10,000+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dermoscopic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restructured into Benign vs. Malignant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data augmentation and class balancing (via weights)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CNN – Custom 3-layer architecture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– Lightweight pre-trained model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– Deeper transfer learning model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9F032298-1382-4F86-C001-DBD25F26D1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57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512"/>
    </mc:Choice>
    <mc:Fallback>
      <p:transition spd="slow" advTm="845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D0D97-62C1-EA6A-C6BF-935051E38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Results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AF4BDF-B2C4-40B1-D30B-9DF57C49A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535607"/>
              </p:ext>
            </p:extLst>
          </p:nvPr>
        </p:nvGraphicFramePr>
        <p:xfrm>
          <a:off x="248478" y="1798984"/>
          <a:ext cx="11280913" cy="3667539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611559">
                  <a:extLst>
                    <a:ext uri="{9D8B030D-6E8A-4147-A177-3AD203B41FA5}">
                      <a16:colId xmlns:a16="http://schemas.microsoft.com/office/drawing/2014/main" val="231008738"/>
                    </a:ext>
                  </a:extLst>
                </a:gridCol>
                <a:gridCol w="1611559">
                  <a:extLst>
                    <a:ext uri="{9D8B030D-6E8A-4147-A177-3AD203B41FA5}">
                      <a16:colId xmlns:a16="http://schemas.microsoft.com/office/drawing/2014/main" val="1743540514"/>
                    </a:ext>
                  </a:extLst>
                </a:gridCol>
                <a:gridCol w="1611559">
                  <a:extLst>
                    <a:ext uri="{9D8B030D-6E8A-4147-A177-3AD203B41FA5}">
                      <a16:colId xmlns:a16="http://schemas.microsoft.com/office/drawing/2014/main" val="506478108"/>
                    </a:ext>
                  </a:extLst>
                </a:gridCol>
                <a:gridCol w="1611559">
                  <a:extLst>
                    <a:ext uri="{9D8B030D-6E8A-4147-A177-3AD203B41FA5}">
                      <a16:colId xmlns:a16="http://schemas.microsoft.com/office/drawing/2014/main" val="2514026863"/>
                    </a:ext>
                  </a:extLst>
                </a:gridCol>
                <a:gridCol w="1611559">
                  <a:extLst>
                    <a:ext uri="{9D8B030D-6E8A-4147-A177-3AD203B41FA5}">
                      <a16:colId xmlns:a16="http://schemas.microsoft.com/office/drawing/2014/main" val="663791266"/>
                    </a:ext>
                  </a:extLst>
                </a:gridCol>
                <a:gridCol w="1611559">
                  <a:extLst>
                    <a:ext uri="{9D8B030D-6E8A-4147-A177-3AD203B41FA5}">
                      <a16:colId xmlns:a16="http://schemas.microsoft.com/office/drawing/2014/main" val="1502253066"/>
                    </a:ext>
                  </a:extLst>
                </a:gridCol>
                <a:gridCol w="1611559">
                  <a:extLst>
                    <a:ext uri="{9D8B030D-6E8A-4147-A177-3AD203B41FA5}">
                      <a16:colId xmlns:a16="http://schemas.microsoft.com/office/drawing/2014/main" val="3585399072"/>
                    </a:ext>
                  </a:extLst>
                </a:gridCol>
              </a:tblGrid>
              <a:tr h="1183077"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(Malignant)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(Malignant)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Positives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Negatives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085401"/>
                  </a:ext>
                </a:extLst>
              </a:tr>
              <a:tr h="828154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~61%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1609112"/>
                  </a:ext>
                </a:extLst>
              </a:tr>
              <a:tr h="828154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859037"/>
                  </a:ext>
                </a:extLst>
              </a:tr>
              <a:tr h="828154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~86% (Best)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035789"/>
                  </a:ext>
                </a:extLst>
              </a:tr>
            </a:tbl>
          </a:graphicData>
        </a:graphic>
      </p:graphicFrame>
      <p:pic>
        <p:nvPicPr>
          <p:cNvPr id="9" name="Audio 8">
            <a:extLst>
              <a:ext uri="{FF2B5EF4-FFF2-40B4-BE49-F238E27FC236}">
                <a16:creationId xmlns:a16="http://schemas.microsoft.com/office/drawing/2014/main" id="{37E76100-7DE7-E958-9DD0-BF71104D0A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46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578"/>
    </mc:Choice>
    <mc:Fallback>
      <p:transition spd="slow" advTm="815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23978-6A4E-0F44-1157-879F5F51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Applications of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646FE-CB69-061E-6E0A-AE8F5D786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diagnosis from MRIs, CT scans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treatment plans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forecasting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surveillance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endParaRPr lang="en-US" dirty="0"/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6F0A9A4A-8F0C-0C59-92FA-646234A435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32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870"/>
    </mc:Choice>
    <mc:Fallback>
      <p:transition spd="slow" advTm="568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B081-92C0-9FAC-0FF7-0116E7DE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020" y="1275522"/>
            <a:ext cx="8596668" cy="1320800"/>
          </a:xfrm>
        </p:spPr>
        <p:txBody>
          <a:bodyPr>
            <a:normAutofit/>
          </a:bodyPr>
          <a:lstStyle/>
          <a:p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Critical Challenges in Medical AI</a:t>
            </a:r>
            <a:b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95E42-1CD7-B81B-7331-B816374B7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020" y="2826511"/>
            <a:ext cx="8596668" cy="388077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Gap: Models fail on rare skin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 Box Problem: Clinicians distrust unexplained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Scarcity: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limits large-scale model updates</a:t>
            </a: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3DF2805B-0FBD-B812-CB67-487E66B2E4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95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216"/>
    </mc:Choice>
    <mc:Fallback>
      <p:transition spd="slow" advTm="572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D4CA-1CE3-499F-513B-0FE0C24BB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89485"/>
            <a:ext cx="8596668" cy="13208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Solutions &amp;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7CD7F-5A56-4106-02D6-9E6D4D035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10285"/>
            <a:ext cx="8596668" cy="388077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GANs to augment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Transfer Learning: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Better results with smaller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AI: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Grad-CAM++,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ProtoPNet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 clinician trust.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Trends: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CNN-RNN models, mobile integration, global access.</a:t>
            </a:r>
          </a:p>
          <a:p>
            <a:endParaRPr lang="en-US" dirty="0"/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8B453872-01B2-404C-C7CB-0C25D1ACD1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38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237"/>
    </mc:Choice>
    <mc:Fallback>
      <p:transition spd="slow" advTm="652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EA63-93B6-1FEB-550D-8992B7E1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05AEC-2E1F-FBDE-5CDC-F1580F595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is transforming skin cancer detection with promising accuracy.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is addressing challenges like data scarcity and model transparency.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tools will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accessible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Clinically interpretable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now rivals dermatologist-level performance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is key to earning clinical trust.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integration will broaden global access to early diagnosis.</a:t>
            </a:r>
          </a:p>
          <a:p>
            <a:endParaRPr lang="en-US" dirty="0"/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7EEDCEA0-31EA-A9ED-F374-5B833E9DEB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97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482"/>
    </mc:Choice>
    <mc:Fallback>
      <p:transition spd="slow" advTm="614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111</TotalTime>
  <Words>477</Words>
  <Application>Microsoft Macintosh PowerPoint</Application>
  <PresentationFormat>Widescreen</PresentationFormat>
  <Paragraphs>93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 3</vt:lpstr>
      <vt:lpstr>Facet</vt:lpstr>
      <vt:lpstr>Deep Learning in Healthcare: Skin Cancer Detection</vt:lpstr>
      <vt:lpstr>Introduction</vt:lpstr>
      <vt:lpstr> How CNNs Revolutionized Dermatology </vt:lpstr>
      <vt:lpstr>AI Techniques in Dermatology: Transfer Learning &amp; GANs</vt:lpstr>
      <vt:lpstr>Technical Approach - Model Development &amp; Training Pipeline</vt:lpstr>
      <vt:lpstr>Model Evaluation &amp; Results</vt:lpstr>
      <vt:lpstr>Industry Applications of Deep Learning</vt:lpstr>
      <vt:lpstr>Critical Challenges in Medical AI </vt:lpstr>
      <vt:lpstr>Future Solutions &amp; Trends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in Healthcare: Skin Cancer Detection</dc:title>
  <dc:creator>Microsoft Office User</dc:creator>
  <cp:lastModifiedBy>Microsoft Office User</cp:lastModifiedBy>
  <cp:revision>10</cp:revision>
  <dcterms:created xsi:type="dcterms:W3CDTF">2025-04-29T22:17:40Z</dcterms:created>
  <dcterms:modified xsi:type="dcterms:W3CDTF">2025-04-30T00:09:23Z</dcterms:modified>
</cp:coreProperties>
</file>